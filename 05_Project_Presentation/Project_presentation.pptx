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71" r:id="rId15"/>
    <p:sldId id="272" r:id="rId16"/>
    <p:sldId id="273" r:id="rId17"/>
    <p:sldId id="274" r:id="rId18"/>
    <p:sldId id="275" r:id="rId19"/>
    <p:sldId id="276" r:id="rId20"/>
    <p:sldId id="268" r:id="rId21"/>
    <p:sldId id="26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82A96FC-156B-4810-B819-1FED3C278D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70"/>
            <p14:sldId id="264"/>
            <p14:sldId id="265"/>
            <p14:sldId id="266"/>
            <p14:sldId id="267"/>
            <p14:sldId id="271"/>
            <p14:sldId id="272"/>
            <p14:sldId id="273"/>
            <p14:sldId id="274"/>
            <p14:sldId id="275"/>
            <p14:sldId id="276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AC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E9462EF3-3C4F-43EE-ACEE-D4B806740EA3}" type="datetimeFigureOut">
              <a:rPr lang="en-US" smtClean="0"/>
              <a:pPr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609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0EF2-9919-473B-8215-8616BAF10692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56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472EB-AC54-4713-BFC2-BEB621108C63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27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5A0C-791E-4545-B787-F98AD45CD761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838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36B77-F4F4-4427-AC4F-9A623798AD82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33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790C-34EB-4565-8437-CACF4CDB7822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84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4C11-22B8-4A4E-8126-B3AF6B948A8E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486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06B6-C816-4861-964D-15A98395707D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989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A8AB-EA7C-4B1B-9D73-E2551851FABE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695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43B39-165A-4B68-AA5C-581F5336313C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54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8C57-33F9-4259-AC4F-0E3F5BEC9B94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575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772B-8FA2-401F-A0A1-A59855EDBC3E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002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5BDE-5A90-4611-82E9-0FC5746D30C5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685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A17D-0BEA-4E76-A7FC-F7C188BC48D1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664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AC7D-18CA-4236-82B9-D75EB1D66EAE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600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300E-C023-45CD-A0BE-EDB7A8C6EA8B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9538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0EAD-E369-4933-8469-ED7764B56A1B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189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0786BE5-D2A3-4BF0-8B30-D7403E61B3DC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32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89F1-10ED-D528-8DAD-C9F055257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265" y="737701"/>
            <a:ext cx="8825658" cy="2677648"/>
          </a:xfrm>
        </p:spPr>
        <p:txBody>
          <a:bodyPr/>
          <a:lstStyle/>
          <a:p>
            <a:pPr algn="l" fontAlgn="base"/>
            <a:r>
              <a:rPr lang="en-IN" b="1" dirty="0"/>
              <a:t>Brazil E-Commerce Marketplace Performance Analysis</a:t>
            </a:r>
            <a:endParaRPr lang="en-IN" b="1" i="0" dirty="0">
              <a:solidFill>
                <a:srgbClr val="202124"/>
              </a:solidFill>
              <a:effectLst/>
              <a:latin typeface="Inter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FC7A3-F834-3288-EA4F-45ECDD419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265" y="4590565"/>
            <a:ext cx="8825658" cy="1131807"/>
          </a:xfrm>
          <a:ln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pPr algn="ctr"/>
            <a:r>
              <a:rPr lang="en-IN" sz="2400" b="1" i="1" dirty="0"/>
              <a:t>Sales • category• Sellers • Payments • Delivery 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</a:rPr>
              <a:t> 2025 | Power BI Project</a:t>
            </a:r>
          </a:p>
          <a:p>
            <a:endParaRPr lang="en-IN"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8FF1CA-B2A2-930C-D110-AFF5570132D7}"/>
              </a:ext>
            </a:extLst>
          </p:cNvPr>
          <p:cNvCxnSpPr>
            <a:cxnSpLocks/>
          </p:cNvCxnSpPr>
          <p:nvPr/>
        </p:nvCxnSpPr>
        <p:spPr>
          <a:xfrm>
            <a:off x="4073281" y="4070555"/>
            <a:ext cx="383185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5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FD18-C9BF-B83E-C4AC-BC4FEA30E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103" y="973669"/>
            <a:ext cx="3893574" cy="687984"/>
          </a:xfrm>
        </p:spPr>
        <p:txBody>
          <a:bodyPr/>
          <a:lstStyle/>
          <a:p>
            <a:pPr algn="ctr"/>
            <a:r>
              <a:rPr lang="en-US" sz="40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CONTENTS</a:t>
            </a:r>
            <a:endParaRPr lang="en-IN" sz="4000" b="1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D7E05-766C-84A6-37FC-C708C19E6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0644" y="2273218"/>
            <a:ext cx="7777317" cy="4493342"/>
          </a:xfrm>
        </p:spPr>
        <p:txBody>
          <a:bodyPr>
            <a:normAutofit lnSpcReduction="10000"/>
          </a:bodyPr>
          <a:lstStyle/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Introduction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 and Study Area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Revenue and Sales Overview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Category Analysis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Sellers Performance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State – Level Market Place Performance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Payment Behaviour Insights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Delivery and Logistics Performance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Insights And Observations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Demonstration (7 slides)</a:t>
            </a:r>
          </a:p>
          <a:p>
            <a:pPr>
              <a:buClr>
                <a:schemeClr val="tx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2000" u="sng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A9495D-C791-7BA8-89DE-DD93E8578872}"/>
              </a:ext>
            </a:extLst>
          </p:cNvPr>
          <p:cNvCxnSpPr>
            <a:cxnSpLocks/>
          </p:cNvCxnSpPr>
          <p:nvPr/>
        </p:nvCxnSpPr>
        <p:spPr>
          <a:xfrm>
            <a:off x="491613" y="2133600"/>
            <a:ext cx="0" cy="4493342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91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AD3C6-2B13-9B83-5F2D-C35889EC0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7392" y="1034846"/>
            <a:ext cx="6685937" cy="687983"/>
          </a:xfrm>
        </p:spPr>
        <p:txBody>
          <a:bodyPr/>
          <a:lstStyle/>
          <a:p>
            <a:pPr algn="ctr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INTRODUCTION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D15E8-B388-3369-CE97-C33D7D009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640864" cy="3964448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This project analyzes a Brazilian e-commerce marketplace dataset from </a:t>
            </a:r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2016 to 2018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to evaluate overall business performance across sales, sellers, payments, and delivery operations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objective is to identify key revenue drivers, customer payment behavior, regional trends, and logistics efficiency using data-driven insights.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analysis was conducted using </a:t>
            </a:r>
            <a:r>
              <a:rPr lang="en-US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Power BI, SQL, Excel, and DAX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to simulate a real-world marketplace performance dashboard.</a:t>
            </a:r>
            <a:endParaRPr lang="en-IN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FEA85B-4F6D-959C-70EA-91BB9FB1B1B7}"/>
              </a:ext>
            </a:extLst>
          </p:cNvPr>
          <p:cNvCxnSpPr>
            <a:cxnSpLocks/>
          </p:cNvCxnSpPr>
          <p:nvPr/>
        </p:nvCxnSpPr>
        <p:spPr>
          <a:xfrm>
            <a:off x="491613" y="2603500"/>
            <a:ext cx="0" cy="368554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568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FC91-8167-E10D-A2D8-EDEAA0BFD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245" y="973669"/>
            <a:ext cx="3077497" cy="706964"/>
          </a:xfrm>
        </p:spPr>
        <p:txBody>
          <a:bodyPr/>
          <a:lstStyle/>
          <a:p>
            <a:pPr algn="ctr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DATASET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FF66726-1E49-0D70-BA26-22D02AB0C2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530287"/>
              </p:ext>
            </p:extLst>
          </p:nvPr>
        </p:nvGraphicFramePr>
        <p:xfrm>
          <a:off x="809704" y="2389239"/>
          <a:ext cx="10780932" cy="4348071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5390466">
                  <a:extLst>
                    <a:ext uri="{9D8B030D-6E8A-4147-A177-3AD203B41FA5}">
                      <a16:colId xmlns:a16="http://schemas.microsoft.com/office/drawing/2014/main" val="2540082429"/>
                    </a:ext>
                  </a:extLst>
                </a:gridCol>
                <a:gridCol w="5390466">
                  <a:extLst>
                    <a:ext uri="{9D8B030D-6E8A-4147-A177-3AD203B41FA5}">
                      <a16:colId xmlns:a16="http://schemas.microsoft.com/office/drawing/2014/main" val="4018213384"/>
                    </a:ext>
                  </a:extLst>
                </a:gridCol>
              </a:tblGrid>
              <a:tr h="590274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Dataset</a:t>
                      </a:r>
                      <a:endParaRPr lang="en-IN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       Brazilian E-Commerce Public Dataset by Olist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008144"/>
                  </a:ext>
                </a:extLst>
              </a:tr>
              <a:tr h="74370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File Structure and Format</a:t>
                      </a:r>
                      <a:endParaRPr lang="en-IN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   9 CSV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   Relational dataset (multiple linked tables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640389"/>
                  </a:ext>
                </a:extLst>
              </a:tr>
              <a:tr h="153582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Dataset Structure</a:t>
                      </a:r>
                      <a:endParaRPr lang="en-IN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   9 CSV files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~ </a:t>
                      </a:r>
                      <a:r>
                        <a:rPr lang="en-IN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1.5 Million Rows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IN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~ 52 Columns </a:t>
                      </a:r>
                      <a:endParaRPr lang="en-IN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582448"/>
                  </a:ext>
                </a:extLst>
              </a:tr>
              <a:tr h="1015228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Time 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  Year 2016 (September to December)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  Year 2017 (January to December)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  Year 2018 (January to October)</a:t>
                      </a:r>
                      <a:endParaRPr lang="en-IN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861546"/>
                  </a:ext>
                </a:extLst>
              </a:tr>
              <a:tr h="463042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Data Source</a:t>
                      </a:r>
                      <a:endParaRPr lang="en-IN" dirty="0"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       Kaggle</a:t>
                      </a:r>
                      <a:endParaRPr lang="en-IN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545236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92C297-7828-DF24-67FE-7F3930587119}"/>
              </a:ext>
            </a:extLst>
          </p:cNvPr>
          <p:cNvCxnSpPr>
            <a:cxnSpLocks/>
          </p:cNvCxnSpPr>
          <p:nvPr/>
        </p:nvCxnSpPr>
        <p:spPr>
          <a:xfrm>
            <a:off x="357948" y="2571135"/>
            <a:ext cx="0" cy="4210421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498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93275-1AF6-4C75-9BB8-85B195EBE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1779" y="995779"/>
            <a:ext cx="3269562" cy="706964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TOOLS USED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AF64C5F-8F60-8287-BBF4-197311CDE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131039"/>
              </p:ext>
            </p:extLst>
          </p:nvPr>
        </p:nvGraphicFramePr>
        <p:xfrm>
          <a:off x="791159" y="3566159"/>
          <a:ext cx="2762857" cy="2783841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2762857">
                  <a:extLst>
                    <a:ext uri="{9D8B030D-6E8A-4147-A177-3AD203B41FA5}">
                      <a16:colId xmlns:a16="http://schemas.microsoft.com/office/drawing/2014/main" val="2887619758"/>
                    </a:ext>
                  </a:extLst>
                </a:gridCol>
              </a:tblGrid>
              <a:tr h="278384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Initial data exploration (columns, structure, content review).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Cross - verification of SQL queries.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Manual validation for duplicates and blanked values.</a:t>
                      </a:r>
                      <a:endParaRPr lang="en-IN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4671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A6719C-7155-1571-95D9-1C91ACFDB99A}"/>
              </a:ext>
            </a:extLst>
          </p:cNvPr>
          <p:cNvSpPr/>
          <p:nvPr/>
        </p:nvSpPr>
        <p:spPr>
          <a:xfrm>
            <a:off x="791160" y="2603500"/>
            <a:ext cx="2394491" cy="75462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EXCEL</a:t>
            </a:r>
            <a:endParaRPr lang="en-IN" dirty="0">
              <a:ln w="0"/>
              <a:solidFill>
                <a:schemeClr val="accent6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FDDF2EE8-AE75-8D27-F56B-DBA791FC364F}"/>
              </a:ext>
            </a:extLst>
          </p:cNvPr>
          <p:cNvSpPr/>
          <p:nvPr/>
        </p:nvSpPr>
        <p:spPr>
          <a:xfrm>
            <a:off x="4621260" y="2603500"/>
            <a:ext cx="2408903" cy="754626"/>
          </a:xfrm>
          <a:prstGeom prst="flowChartAlternateProcess">
            <a:avLst/>
          </a:prstGeom>
          <a:solidFill>
            <a:schemeClr val="tx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SQL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3F5FD8-2952-B102-340D-FE2AE6AA625E}"/>
              </a:ext>
            </a:extLst>
          </p:cNvPr>
          <p:cNvSpPr/>
          <p:nvPr/>
        </p:nvSpPr>
        <p:spPr>
          <a:xfrm>
            <a:off x="8337755" y="2603500"/>
            <a:ext cx="2566219" cy="75462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POWER BI</a:t>
            </a:r>
            <a:endParaRPr lang="en-IN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EE0820F3-630C-5B7F-47F7-00DC7C3535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2864036"/>
              </p:ext>
            </p:extLst>
          </p:nvPr>
        </p:nvGraphicFramePr>
        <p:xfrm>
          <a:off x="4497273" y="3714422"/>
          <a:ext cx="3188630" cy="2635578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3188630">
                  <a:extLst>
                    <a:ext uri="{9D8B030D-6E8A-4147-A177-3AD203B41FA5}">
                      <a16:colId xmlns:a16="http://schemas.microsoft.com/office/drawing/2014/main" val="2887619758"/>
                    </a:ext>
                  </a:extLst>
                </a:gridCol>
              </a:tblGrid>
              <a:tr h="263557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Major data cleaning and transformations.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Handled missing values and duplicates.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Updated and Structured tables.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Created Joins between relational tables.</a:t>
                      </a:r>
                      <a:endParaRPr lang="en-IN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46718"/>
                  </a:ext>
                </a:extLst>
              </a:tr>
            </a:tbl>
          </a:graphicData>
        </a:graphic>
      </p:graphicFrame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B9E2DD18-B01B-F44F-72DD-9053F0C13A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6235593"/>
              </p:ext>
            </p:extLst>
          </p:nvPr>
        </p:nvGraphicFramePr>
        <p:xfrm>
          <a:off x="8337755" y="3566159"/>
          <a:ext cx="2758613" cy="2783841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2758613">
                  <a:extLst>
                    <a:ext uri="{9D8B030D-6E8A-4147-A177-3AD203B41FA5}">
                      <a16:colId xmlns:a16="http://schemas.microsoft.com/office/drawing/2014/main" val="2887619758"/>
                    </a:ext>
                  </a:extLst>
                </a:gridCol>
              </a:tblGrid>
              <a:tr h="278384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Built data model and relationships.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Created Calculated columns and DAX Measures.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Designed Dashboards and Visuals.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Visual Analysis.</a:t>
                      </a:r>
                      <a:endParaRPr lang="en-IN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46718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D5052F-B6C2-5705-448F-4708728B3499}"/>
              </a:ext>
            </a:extLst>
          </p:cNvPr>
          <p:cNvCxnSpPr>
            <a:cxnSpLocks/>
          </p:cNvCxnSpPr>
          <p:nvPr/>
        </p:nvCxnSpPr>
        <p:spPr>
          <a:xfrm>
            <a:off x="501773" y="2428240"/>
            <a:ext cx="0" cy="392176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806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F322-6470-5FBF-93B3-6E69D27E7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521" y="861909"/>
            <a:ext cx="6972360" cy="706964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Revenue and Sales Overview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6912FC1-2F1F-97C5-5CC5-9B0E134D6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9" y="2387739"/>
            <a:ext cx="5978012" cy="4376855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b="1" dirty="0"/>
              <a:t>Consistent Revenue Growth (2016–2018</a:t>
            </a:r>
            <a:r>
              <a:rPr lang="en-US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):</a:t>
            </a:r>
            <a:r>
              <a:rPr lang="en-US" b="1" dirty="0">
                <a:latin typeface="+mj-lt"/>
                <a:cs typeface="Segoe UI Semibold" panose="020B0702040204020203" pitchFamily="34" charset="0"/>
              </a:rPr>
              <a:t> </a:t>
            </a:r>
            <a:r>
              <a:rPr lang="en-US" dirty="0">
                <a:latin typeface="+mj-lt"/>
                <a:cs typeface="Segoe UI Semibold" panose="020B0702040204020203" pitchFamily="34" charset="0"/>
              </a:rPr>
              <a:t>Sales showed a steady upward trend, with 2018 generating the highest revenue, indicating strong marketplace expansion and increasing customer trust.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b="1" dirty="0"/>
              <a:t>Revenue Growth Driven by More Orders, Not Higher Spending:</a:t>
            </a: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dirty="0">
                <a:latin typeface="+mj-lt"/>
                <a:cs typeface="Segoe UI Semibold" panose="020B0702040204020203" pitchFamily="34" charset="0"/>
              </a:rPr>
              <a:t>The increase in revenue was mainly due to a higher number of orders placed, rather than customers spending more per order.</a:t>
            </a:r>
            <a:endParaRPr lang="en-IN" dirty="0">
              <a:latin typeface="+mj-lt"/>
              <a:cs typeface="Segoe UI Semibold" panose="020B0702040204020203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b="1" dirty="0"/>
              <a:t>Revenue Directly Linked to Order </a:t>
            </a:r>
            <a:r>
              <a:rPr lang="en-US" b="1" dirty="0">
                <a:latin typeface="+mj-lt"/>
              </a:rPr>
              <a:t>Volume: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latin typeface="+mj-lt"/>
                <a:cs typeface="Segoe UI Semibold" panose="020B0702040204020203" pitchFamily="34" charset="0"/>
              </a:rPr>
              <a:t>Revenue trends were strongly proportional to order placements — periods of higher orders resulted in higher revenue, while revenue declined during months with lower order volume.</a:t>
            </a:r>
            <a:endParaRPr lang="en-IN" dirty="0">
              <a:latin typeface="+mj-lt"/>
              <a:cs typeface="Segoe UI Semibold" panose="020B0702040204020203" pitchFamily="34" charset="0"/>
            </a:endParaRPr>
          </a:p>
        </p:txBody>
      </p:sp>
      <p:pic>
        <p:nvPicPr>
          <p:cNvPr id="4" name="Picture 3" descr="A green graph with black text&#10;&#10;AI-generated content may be incorrect.">
            <a:extLst>
              <a:ext uri="{FF2B5EF4-FFF2-40B4-BE49-F238E27FC236}">
                <a16:creationId xmlns:a16="http://schemas.microsoft.com/office/drawing/2014/main" id="{CDB15320-6EEB-E87B-1FC4-0D89B7D2B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085" y="2309010"/>
            <a:ext cx="5785927" cy="2422726"/>
          </a:xfrm>
          <a:prstGeom prst="rect">
            <a:avLst/>
          </a:prstGeom>
        </p:spPr>
      </p:pic>
      <p:pic>
        <p:nvPicPr>
          <p:cNvPr id="6" name="Picture 5" descr="A graph of a bar graph&#10;&#10;AI-generated content may be incorrect.">
            <a:extLst>
              <a:ext uri="{FF2B5EF4-FFF2-40B4-BE49-F238E27FC236}">
                <a16:creationId xmlns:a16="http://schemas.microsoft.com/office/drawing/2014/main" id="{6FC89894-A114-F7A1-4ED4-CB0075B33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085" y="4810465"/>
            <a:ext cx="5785927" cy="188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36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7DD9F-A0EC-E173-C278-0577C1257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1691" y="796214"/>
            <a:ext cx="5532287" cy="867032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Category Analysis</a:t>
            </a:r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0EB5BF-A684-9F91-FA21-2089EDE2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1" y="2468879"/>
            <a:ext cx="6921706" cy="4195531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b="1" dirty="0"/>
              <a:t>Revenue Concentration in Top Categories:</a:t>
            </a:r>
            <a:r>
              <a:rPr lang="en-US" dirty="0"/>
              <a:t> </a:t>
            </a:r>
            <a:r>
              <a:rPr lang="en-US" dirty="0">
                <a:latin typeface="+mj-lt"/>
              </a:rPr>
              <a:t>The </a:t>
            </a:r>
            <a:r>
              <a:rPr lang="en-US" b="1" dirty="0">
                <a:latin typeface="+mj-lt"/>
              </a:rPr>
              <a:t>top 6 </a:t>
            </a:r>
            <a:r>
              <a:rPr lang="en-US" dirty="0">
                <a:latin typeface="+mj-lt"/>
              </a:rPr>
              <a:t>product categories contribute </a:t>
            </a:r>
            <a:r>
              <a:rPr lang="en-US" b="1" dirty="0">
                <a:latin typeface="+mj-lt"/>
              </a:rPr>
              <a:t>58.7% of total revenue</a:t>
            </a:r>
            <a:r>
              <a:rPr lang="en-US" dirty="0">
                <a:latin typeface="+mj-lt"/>
              </a:rPr>
              <a:t> and account for </a:t>
            </a:r>
            <a:r>
              <a:rPr lang="en-US" b="1" dirty="0">
                <a:latin typeface="+mj-lt"/>
              </a:rPr>
              <a:t>48.7% of total orders</a:t>
            </a:r>
            <a:r>
              <a:rPr lang="en-US" dirty="0">
                <a:latin typeface="+mj-lt"/>
              </a:rPr>
              <a:t>, indicating that a small group of categories drives overall marketplace performance.</a:t>
            </a:r>
            <a:endParaRPr lang="en-US" dirty="0">
              <a:latin typeface="+mj-lt"/>
              <a:cs typeface="Segoe UI Semibold" panose="020B0702040204020203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b="1" dirty="0"/>
              <a:t>Minimal Contribution from Bottom Categories:</a:t>
            </a:r>
            <a:r>
              <a:rPr lang="en-US" dirty="0"/>
              <a:t> The </a:t>
            </a:r>
            <a:r>
              <a:rPr lang="en-US" b="1" dirty="0"/>
              <a:t>bottom 6</a:t>
            </a:r>
            <a:r>
              <a:rPr lang="en-US" dirty="0"/>
              <a:t> categories contribute only </a:t>
            </a:r>
            <a:r>
              <a:rPr lang="en-US" b="1" dirty="0"/>
              <a:t>1.03% of total revenue</a:t>
            </a:r>
            <a:r>
              <a:rPr lang="en-US" dirty="0"/>
              <a:t> and </a:t>
            </a:r>
            <a:r>
              <a:rPr lang="en-US" b="1" dirty="0"/>
              <a:t>1.01% of total orders</a:t>
            </a:r>
            <a:r>
              <a:rPr lang="en-US" dirty="0"/>
              <a:t>, highlighting a significant performance gap across product segments.</a:t>
            </a:r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b="1" dirty="0"/>
              <a:t>High AOV Category – Watches &amp; Gifts:</a:t>
            </a:r>
            <a:r>
              <a:rPr lang="en-US" dirty="0"/>
              <a:t> Although Watches &amp; Gifts contributes </a:t>
            </a:r>
            <a:r>
              <a:rPr lang="en-US" b="1" dirty="0"/>
              <a:t>8.2% of total revenue</a:t>
            </a:r>
            <a:r>
              <a:rPr lang="en-US" dirty="0"/>
              <a:t>, it has a higher Average Order Value (AOV) of </a:t>
            </a:r>
            <a:r>
              <a:rPr lang="en-US" b="1" dirty="0"/>
              <a:t>231</a:t>
            </a:r>
            <a:r>
              <a:rPr lang="en-US" dirty="0"/>
              <a:t>, compared to categories like Furniture (AOV 150), indicating higher per-order spending despite lower order volume.</a:t>
            </a:r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 descr="A blue bar chart with black text&#10;&#10;AI-generated content may be incorrect.">
            <a:extLst>
              <a:ext uri="{FF2B5EF4-FFF2-40B4-BE49-F238E27FC236}">
                <a16:creationId xmlns:a16="http://schemas.microsoft.com/office/drawing/2014/main" id="{0C33E63E-1B57-BCFB-B5D0-F9FACA841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559" y="2468879"/>
            <a:ext cx="4611329" cy="1975302"/>
          </a:xfrm>
          <a:prstGeom prst="rect">
            <a:avLst/>
          </a:prstGeom>
        </p:spPr>
      </p:pic>
      <p:pic>
        <p:nvPicPr>
          <p:cNvPr id="7" name="Picture 6" descr="A graph of a number of blue rectangular bars&#10;&#10;AI-generated content may be incorrect.">
            <a:extLst>
              <a:ext uri="{FF2B5EF4-FFF2-40B4-BE49-F238E27FC236}">
                <a16:creationId xmlns:a16="http://schemas.microsoft.com/office/drawing/2014/main" id="{21955F6C-867C-BD06-A965-1DE99BB20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559" y="4718502"/>
            <a:ext cx="4611329" cy="206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08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6BD5-31D7-DF05-7DBE-904915FE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395" y="922869"/>
            <a:ext cx="6769846" cy="706964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Sellers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F7E59-613D-A5B8-9874-93AAD2085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2509519"/>
            <a:ext cx="6576141" cy="4245242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b="1" dirty="0"/>
              <a:t>Majority Sellers Generate Minimal Revenue:</a:t>
            </a:r>
            <a:r>
              <a:rPr lang="en-US" dirty="0"/>
              <a:t> Sellers in the </a:t>
            </a:r>
            <a:r>
              <a:rPr lang="en-US" b="1" dirty="0"/>
              <a:t>0–5K revenue band</a:t>
            </a:r>
            <a:r>
              <a:rPr lang="en-US" dirty="0"/>
              <a:t> account for </a:t>
            </a:r>
            <a:r>
              <a:rPr lang="en-US" b="1" dirty="0"/>
              <a:t>78% of total sellers (3,095)</a:t>
            </a:r>
            <a:r>
              <a:rPr lang="en-US" dirty="0"/>
              <a:t> but contribute only </a:t>
            </a:r>
            <a:r>
              <a:rPr lang="en-US" b="1" dirty="0"/>
              <a:t>16.8% of total revenue</a:t>
            </a:r>
            <a:r>
              <a:rPr lang="en-US" dirty="0"/>
              <a:t>, indicating low productivity among a large portion of sellers.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dirty="0"/>
              <a:t> </a:t>
            </a:r>
            <a:r>
              <a:rPr lang="en-US" b="1" dirty="0"/>
              <a:t>Small Group Driving Major Revenue:</a:t>
            </a:r>
            <a:r>
              <a:rPr lang="en-US" dirty="0"/>
              <a:t> Sellers in the </a:t>
            </a:r>
            <a:r>
              <a:rPr lang="en-US" b="1" dirty="0"/>
              <a:t>50K+ revenue band</a:t>
            </a:r>
            <a:r>
              <a:rPr lang="en-US" dirty="0"/>
              <a:t> represent just </a:t>
            </a:r>
            <a:r>
              <a:rPr lang="en-US" b="1" dirty="0"/>
              <a:t>1.6% of total sellers</a:t>
            </a:r>
            <a:r>
              <a:rPr lang="en-US" dirty="0"/>
              <a:t>, yet contribute </a:t>
            </a:r>
            <a:r>
              <a:rPr lang="en-US" b="1" dirty="0"/>
              <a:t>32% of total revenue</a:t>
            </a:r>
            <a:r>
              <a:rPr lang="en-US" dirty="0"/>
              <a:t>, showing strong revenue concentration among top performers.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b="1" dirty="0"/>
              <a:t>Significant Gap in Seller Productivity:</a:t>
            </a:r>
            <a:r>
              <a:rPr lang="en-US" dirty="0"/>
              <a:t> The average orders per seller in the 50K+ band is </a:t>
            </a:r>
            <a:r>
              <a:rPr lang="en-US" b="1" dirty="0"/>
              <a:t>569</a:t>
            </a:r>
            <a:r>
              <a:rPr lang="en-US" dirty="0"/>
              <a:t>, compared to just </a:t>
            </a:r>
            <a:r>
              <a:rPr lang="en-US" b="1" dirty="0"/>
              <a:t>8 orders</a:t>
            </a:r>
            <a:r>
              <a:rPr lang="en-US" dirty="0"/>
              <a:t> in the 0–5K band, highlighting a major performance imbalance across seller segments.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 descr="A graph of sales by revenue band&#10;&#10;AI-generated content may be incorrect.">
            <a:extLst>
              <a:ext uri="{FF2B5EF4-FFF2-40B4-BE49-F238E27FC236}">
                <a16:creationId xmlns:a16="http://schemas.microsoft.com/office/drawing/2014/main" id="{04A08E54-4875-10C5-C218-26B865111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987" y="2275535"/>
            <a:ext cx="4069612" cy="2179408"/>
          </a:xfrm>
          <a:prstGeom prst="rect">
            <a:avLst/>
          </a:prstGeom>
        </p:spPr>
      </p:pic>
      <p:pic>
        <p:nvPicPr>
          <p:cNvPr id="7" name="Picture 6" descr="A blue pie chart with numbers and percentages&#10;&#10;AI-generated content may be incorrect.">
            <a:extLst>
              <a:ext uri="{FF2B5EF4-FFF2-40B4-BE49-F238E27FC236}">
                <a16:creationId xmlns:a16="http://schemas.microsoft.com/office/drawing/2014/main" id="{6A869BDF-080E-896F-49BF-B823BED0B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987" y="4517028"/>
            <a:ext cx="4069612" cy="223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20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0A605-396D-EA3C-6E54-055CD294E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406" y="602225"/>
            <a:ext cx="8825659" cy="1285568"/>
          </a:xfrm>
        </p:spPr>
        <p:txBody>
          <a:bodyPr/>
          <a:lstStyle/>
          <a:p>
            <a:r>
              <a:rPr lang="en-IN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State-Level Marketplace Performance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115B9-7EDC-3300-8FD2-1B214A877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2458065"/>
            <a:ext cx="6636775" cy="4316361"/>
          </a:xfrm>
        </p:spPr>
        <p:txBody>
          <a:bodyPr>
            <a:normAutofit/>
          </a:bodyPr>
          <a:lstStyle/>
          <a:p>
            <a:r>
              <a:rPr lang="en-US" b="1" dirty="0"/>
              <a:t>Revenue Concentration in Top 3 States:</a:t>
            </a:r>
            <a:r>
              <a:rPr lang="en-US" dirty="0"/>
              <a:t> Out of 27 states, </a:t>
            </a:r>
            <a:r>
              <a:rPr lang="en-US" b="1" dirty="0"/>
              <a:t>São Paulo, Minas Gerais, and Rio de Janeiro</a:t>
            </a:r>
            <a:r>
              <a:rPr lang="en-US" dirty="0"/>
              <a:t> contribute </a:t>
            </a:r>
            <a:r>
              <a:rPr lang="en-US" b="1" dirty="0"/>
              <a:t>62.5% of total revenue</a:t>
            </a:r>
            <a:r>
              <a:rPr lang="en-US" dirty="0"/>
              <a:t>, with </a:t>
            </a:r>
            <a:r>
              <a:rPr lang="en-US" b="1" dirty="0"/>
              <a:t>São Paulo alone generating 37%</a:t>
            </a:r>
            <a:r>
              <a:rPr lang="en-US" dirty="0"/>
              <a:t>, establishing it as the core marketplace.</a:t>
            </a:r>
          </a:p>
          <a:p>
            <a:r>
              <a:rPr lang="en-US" b="1" dirty="0"/>
              <a:t>Order Volume Dominated by Key States:</a:t>
            </a:r>
            <a:r>
              <a:rPr lang="en-US" dirty="0"/>
              <a:t> These same three states account for approximately </a:t>
            </a:r>
            <a:r>
              <a:rPr lang="en-US" b="1" dirty="0"/>
              <a:t>66–68% of total orders</a:t>
            </a:r>
            <a:r>
              <a:rPr lang="en-US" dirty="0"/>
              <a:t>, with </a:t>
            </a:r>
            <a:r>
              <a:rPr lang="en-US" b="1" dirty="0"/>
              <a:t>São Paulo alone contributing 42% of overall order placements</a:t>
            </a:r>
            <a:r>
              <a:rPr lang="en-US" dirty="0"/>
              <a:t>, indicating strong demand concentration.</a:t>
            </a:r>
          </a:p>
          <a:p>
            <a:r>
              <a:rPr lang="en-US" b="1" dirty="0"/>
              <a:t>High Business Dependency on São Paulo:</a:t>
            </a:r>
            <a:r>
              <a:rPr lang="en-US" dirty="0"/>
              <a:t> Both revenue and order share show heavy reliance on São Paulo, making it the primary growth driver and most critical regional market.</a:t>
            </a:r>
            <a:endParaRPr lang="en-IN" dirty="0"/>
          </a:p>
        </p:txBody>
      </p:sp>
      <p:pic>
        <p:nvPicPr>
          <p:cNvPr id="9" name="Picture 8" descr="A screenshot of a table&#10;&#10;AI-generated content may be incorrect.">
            <a:extLst>
              <a:ext uri="{FF2B5EF4-FFF2-40B4-BE49-F238E27FC236}">
                <a16:creationId xmlns:a16="http://schemas.microsoft.com/office/drawing/2014/main" id="{0E8BB665-3435-B1DC-4B2A-06C83D7CA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1" y="2365924"/>
            <a:ext cx="4267200" cy="440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464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44975-8230-3ED2-E251-700386257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528" y="897192"/>
            <a:ext cx="6643665" cy="774291"/>
          </a:xfrm>
        </p:spPr>
        <p:txBody>
          <a:bodyPr/>
          <a:lstStyle/>
          <a:p>
            <a:pPr>
              <a:buClr>
                <a:schemeClr val="tx2">
                  <a:lumMod val="75000"/>
                </a:schemeClr>
              </a:buClr>
            </a:pPr>
            <a:r>
              <a:rPr lang="en-IN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Payment</a:t>
            </a:r>
            <a:r>
              <a:rPr lang="en-IN" dirty="0">
                <a:solidFill>
                  <a:schemeClr val="bg1"/>
                </a:solidFill>
                <a:latin typeface="Segoe UI Semibold" panose="020B0702040204020203" pitchFamily="34" charset="0"/>
                <a:ea typeface="Lato black" panose="020F0502020204030203" pitchFamily="34" charset="0"/>
                <a:cs typeface="Segoe UI Semibold" panose="020B0702040204020203" pitchFamily="34" charset="0"/>
              </a:rPr>
              <a:t> </a:t>
            </a:r>
            <a:r>
              <a:rPr lang="en-IN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Behaviour</a:t>
            </a:r>
            <a:r>
              <a:rPr lang="en-IN" sz="3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IN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A20E6-9EF5-9472-8F02-D949D4868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34" y="2458065"/>
            <a:ext cx="6170734" cy="4399935"/>
          </a:xfrm>
        </p:spPr>
        <p:txBody>
          <a:bodyPr>
            <a:noAutofit/>
          </a:bodyPr>
          <a:lstStyle/>
          <a:p>
            <a:pPr>
              <a:buClr>
                <a:schemeClr val="accent3">
                  <a:lumMod val="75000"/>
                </a:schemeClr>
              </a:buClr>
            </a:pPr>
            <a:r>
              <a:rPr lang="en-US" b="1" dirty="0"/>
              <a:t>Credit Card Dominates Transactions:</a:t>
            </a:r>
            <a:r>
              <a:rPr lang="en-US" dirty="0"/>
              <a:t> Credit card payments contribute </a:t>
            </a:r>
            <a:r>
              <a:rPr lang="en-US" b="1" dirty="0"/>
              <a:t>78.5% of total revenue</a:t>
            </a:r>
            <a:r>
              <a:rPr lang="en-US" dirty="0"/>
              <a:t> and account for approximately </a:t>
            </a:r>
            <a:r>
              <a:rPr lang="en-US" b="1" dirty="0"/>
              <a:t>70–72% of total delivered orders</a:t>
            </a:r>
            <a:r>
              <a:rPr lang="en-US" dirty="0"/>
              <a:t>, making it the most preferred payment method.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r>
              <a:rPr lang="en-US" b="1" dirty="0"/>
              <a:t>Average Payment Sequential = 1:</a:t>
            </a:r>
            <a:r>
              <a:rPr lang="en-US" dirty="0"/>
              <a:t> The average payment sequence per order is approximately 1, indicating that most customers complete their purchase in a single payment transaction.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r>
              <a:rPr lang="en-US" b="1" dirty="0"/>
              <a:t>Majority Choose Single Installment:</a:t>
            </a:r>
            <a:r>
              <a:rPr lang="en-US" dirty="0"/>
              <a:t> Average installment is </a:t>
            </a:r>
            <a:r>
              <a:rPr lang="en-US" b="1" dirty="0"/>
              <a:t>3, </a:t>
            </a:r>
            <a:r>
              <a:rPr lang="en-US" dirty="0"/>
              <a:t>although nearly </a:t>
            </a:r>
            <a:r>
              <a:rPr lang="en-US" b="1" dirty="0"/>
              <a:t>45% of payments are made in 1 full installment</a:t>
            </a:r>
            <a:r>
              <a:rPr lang="en-US" dirty="0"/>
              <a:t>, showing strong preference for immediate full payment over multiple installments.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screenshot of a number of orders&#10;&#10;AI-generated content may be incorrect.">
            <a:extLst>
              <a:ext uri="{FF2B5EF4-FFF2-40B4-BE49-F238E27FC236}">
                <a16:creationId xmlns:a16="http://schemas.microsoft.com/office/drawing/2014/main" id="{D137EFAE-307A-1F5A-88BC-90A5B3926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217" y="2376853"/>
            <a:ext cx="4621965" cy="2104294"/>
          </a:xfrm>
          <a:prstGeom prst="rect">
            <a:avLst/>
          </a:prstGeom>
        </p:spPr>
      </p:pic>
      <p:pic>
        <p:nvPicPr>
          <p:cNvPr id="8" name="Picture 7" descr="A blue circle with numbers and text&#10;&#10;AI-generated content may be incorrect.">
            <a:extLst>
              <a:ext uri="{FF2B5EF4-FFF2-40B4-BE49-F238E27FC236}">
                <a16:creationId xmlns:a16="http://schemas.microsoft.com/office/drawing/2014/main" id="{313DA21D-90D4-AF9C-3365-EBA42B0D0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218" y="4581832"/>
            <a:ext cx="4621965" cy="218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2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7DCA-7739-0DA4-061C-42C1852D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7395" y="716690"/>
            <a:ext cx="6990734" cy="1328420"/>
          </a:xfrm>
        </p:spPr>
        <p:txBody>
          <a:bodyPr/>
          <a:lstStyle/>
          <a:p>
            <a:pPr algn="ctr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Delivery and Logistics Performance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8672D-6515-E6F3-2BFC-5B6915367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051" y="2367526"/>
            <a:ext cx="6990733" cy="4490474"/>
          </a:xfrm>
        </p:spPr>
        <p:txBody>
          <a:bodyPr>
            <a:normAutofit lnSpcReduction="10000"/>
          </a:bodyPr>
          <a:lstStyle/>
          <a:p>
            <a:r>
              <a:rPr lang="en-US" sz="1600" b="1" dirty="0"/>
              <a:t>Highly Efficient Delivery System:</a:t>
            </a:r>
            <a:br>
              <a:rPr lang="en-US" sz="1600" dirty="0"/>
            </a:br>
            <a:r>
              <a:rPr lang="en-US" sz="1600" dirty="0"/>
              <a:t>97% of total orders were successfully delivered, with only </a:t>
            </a:r>
            <a:r>
              <a:rPr lang="en-US" sz="1600" b="1" dirty="0"/>
              <a:t>0.63% cancellations</a:t>
            </a:r>
            <a:r>
              <a:rPr lang="en-US" sz="1600" dirty="0"/>
              <a:t>, reflecting strong operational performance. The average delivery time is </a:t>
            </a:r>
            <a:r>
              <a:rPr lang="en-US" sz="1600" b="1" dirty="0"/>
              <a:t>12 days</a:t>
            </a:r>
            <a:r>
              <a:rPr lang="en-US" sz="1600" dirty="0"/>
              <a:t> (median 10 days), indicating consistent fulfillment timelines.</a:t>
            </a:r>
          </a:p>
          <a:p>
            <a:r>
              <a:rPr lang="en-US" sz="1600" b="1" dirty="0"/>
              <a:t>Stable Delivery Across Time &amp; Categories:</a:t>
            </a:r>
            <a:br>
              <a:rPr lang="en-US" sz="1600" dirty="0"/>
            </a:br>
            <a:r>
              <a:rPr lang="en-US" sz="1600" dirty="0"/>
              <a:t>Monthly average delivery time ranges between </a:t>
            </a:r>
            <a:r>
              <a:rPr lang="en-US" sz="1600" b="1" dirty="0"/>
              <a:t>8–14 days</a:t>
            </a:r>
            <a:r>
              <a:rPr lang="en-US" sz="1600" dirty="0"/>
              <a:t>, and category-wise between </a:t>
            </a:r>
            <a:r>
              <a:rPr lang="en-US" sz="1600" b="1" dirty="0"/>
              <a:t>8–12 days</a:t>
            </a:r>
            <a:r>
              <a:rPr lang="en-US" sz="1600" dirty="0"/>
              <a:t>, showing relatively stable logistics performance across product segments and seasons.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Regional Delivery Variation with Strong Reliability:</a:t>
            </a:r>
            <a:br>
              <a:rPr lang="en-US" sz="1600" dirty="0"/>
            </a:br>
            <a:r>
              <a:rPr lang="en-US" sz="1600" dirty="0"/>
              <a:t>States like </a:t>
            </a:r>
            <a:r>
              <a:rPr lang="en-US" sz="1600" b="1" dirty="0"/>
              <a:t>Roraima, Amapá, and Amazonas</a:t>
            </a:r>
            <a:r>
              <a:rPr lang="en-US" sz="1600" dirty="0"/>
              <a:t> have higher average delivery times (25–30 days). However, </a:t>
            </a:r>
            <a:r>
              <a:rPr lang="en-US" sz="1600" b="1" dirty="0"/>
              <a:t>Amapá and Amazonas maintain a 97% on-time delivery rate</a:t>
            </a:r>
            <a:r>
              <a:rPr lang="en-US" sz="1600" dirty="0"/>
              <a:t>, the highest among all states.</a:t>
            </a:r>
            <a:br>
              <a:rPr lang="en-US" sz="1600" dirty="0"/>
            </a:br>
            <a:r>
              <a:rPr lang="en-US" sz="1600" dirty="0"/>
              <a:t>In contrast, the top-performing market </a:t>
            </a:r>
            <a:r>
              <a:rPr lang="en-US" sz="1600" b="1" dirty="0"/>
              <a:t>São Paulo</a:t>
            </a:r>
            <a:r>
              <a:rPr lang="en-US" sz="1600" dirty="0"/>
              <a:t> records a fast average delivery time of </a:t>
            </a:r>
            <a:r>
              <a:rPr lang="en-US" sz="1600" b="1" dirty="0"/>
              <a:t>8.7 days</a:t>
            </a:r>
            <a:r>
              <a:rPr lang="en-US" sz="1600" dirty="0"/>
              <a:t> with a </a:t>
            </a:r>
            <a:r>
              <a:rPr lang="en-US" sz="1600" b="1" dirty="0"/>
              <a:t>95% on-time rate</a:t>
            </a:r>
            <a:r>
              <a:rPr lang="en-US" sz="1600" dirty="0"/>
              <a:t>, balancing speed and consistency.</a:t>
            </a:r>
          </a:p>
          <a:p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C75456-97AA-1F97-C19F-B224A69AE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394" y="2432828"/>
            <a:ext cx="5043948" cy="268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41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952A0-D7D9-94D3-035E-A37B6B7AB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360" y="853441"/>
            <a:ext cx="8818880" cy="772160"/>
          </a:xfrm>
        </p:spPr>
        <p:txBody>
          <a:bodyPr/>
          <a:lstStyle/>
          <a:p>
            <a:pPr algn="ctr"/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KEY INSIGHTS AND OBSERVATIONS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99DE9-3DD0-7F35-E035-076644B7A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2379406"/>
            <a:ext cx="11798710" cy="4478594"/>
          </a:xfrm>
        </p:spPr>
        <p:txBody>
          <a:bodyPr>
            <a:normAutofit fontScale="92500" lnSpcReduction="20000"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900" b="1" dirty="0"/>
              <a:t>Revenue &amp; Orders Are Highly Concentrated:</a:t>
            </a:r>
            <a:br>
              <a:rPr lang="en-US" sz="1900" dirty="0"/>
            </a:br>
            <a:r>
              <a:rPr lang="en-US" sz="1900" dirty="0">
                <a:solidFill>
                  <a:srgbClr val="55AC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Top 6 product categories contribute </a:t>
            </a:r>
            <a:r>
              <a:rPr lang="en-US" sz="1900" dirty="0">
                <a:solidFill>
                  <a:srgbClr val="55ACB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58.7% of total revenue</a:t>
            </a:r>
            <a:r>
              <a:rPr lang="en-US" sz="1900" dirty="0">
                <a:solidFill>
                  <a:srgbClr val="55AC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and the top 3 states generate </a:t>
            </a:r>
            <a:r>
              <a:rPr lang="en-US" sz="1900" b="1" dirty="0">
                <a:solidFill>
                  <a:srgbClr val="55ACB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62.5% of total revenue</a:t>
            </a:r>
            <a:r>
              <a:rPr lang="en-US" sz="1900" dirty="0">
                <a:solidFill>
                  <a:srgbClr val="55AC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showing strong business concentration</a:t>
            </a:r>
            <a:r>
              <a:rPr lang="en-US" sz="1900" dirty="0">
                <a:solidFill>
                  <a:srgbClr val="55ACBD"/>
                </a:solidFill>
              </a:rPr>
              <a:t>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900" b="1" dirty="0"/>
              <a:t>Small Group Drives Marketplace Revenue:</a:t>
            </a:r>
            <a:br>
              <a:rPr lang="en-US" sz="1900" dirty="0"/>
            </a:br>
            <a:r>
              <a:rPr lang="en-US" sz="1900" dirty="0">
                <a:solidFill>
                  <a:srgbClr val="55AC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Only </a:t>
            </a:r>
            <a:r>
              <a:rPr lang="en-US" sz="1900" b="1" dirty="0">
                <a:solidFill>
                  <a:srgbClr val="55ACB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1.6% of sellers (50K+ revenue band)</a:t>
            </a:r>
            <a:r>
              <a:rPr lang="en-US" sz="1900" dirty="0">
                <a:solidFill>
                  <a:srgbClr val="55ACB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1900" dirty="0">
                <a:solidFill>
                  <a:srgbClr val="55AC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contribute </a:t>
            </a:r>
            <a:r>
              <a:rPr lang="en-US" sz="1900" b="1" dirty="0">
                <a:solidFill>
                  <a:srgbClr val="55ACB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32% of total revenue</a:t>
            </a:r>
            <a:r>
              <a:rPr lang="en-US" sz="1900" dirty="0">
                <a:solidFill>
                  <a:srgbClr val="55AC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while 78% of sellers generate just 16.8%, highlighting major seller performance imbalance.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900" b="1" dirty="0">
                <a:latin typeface="Segoe UI" panose="020B0502040204020203" pitchFamily="34" charset="0"/>
                <a:cs typeface="Segoe UI" panose="020B0502040204020203" pitchFamily="34" charset="0"/>
              </a:rPr>
              <a:t>Revenue Growth Is Volume-Driven:</a:t>
            </a:r>
            <a:br>
              <a:rPr lang="en-US" sz="1900" dirty="0"/>
            </a:br>
            <a:r>
              <a:rPr lang="en-US" sz="1900" dirty="0">
                <a:solidFill>
                  <a:srgbClr val="55AC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Revenue trends are directly proportional to order volume, indicating growth is driven by higher order placements rather than higher spending per order.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900" b="1" dirty="0"/>
              <a:t>Credit Card Is the Dominant Payment Mode:</a:t>
            </a:r>
            <a:br>
              <a:rPr lang="en-US" sz="1900" dirty="0"/>
            </a:br>
            <a:r>
              <a:rPr lang="en-US" sz="1900" dirty="0">
                <a:solidFill>
                  <a:srgbClr val="55AC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Credit cards account for </a:t>
            </a:r>
            <a:r>
              <a:rPr lang="en-US" sz="1900" b="1" dirty="0">
                <a:solidFill>
                  <a:srgbClr val="55ACB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78.5% of revenue</a:t>
            </a:r>
            <a:r>
              <a:rPr lang="en-US" sz="1900" dirty="0">
                <a:solidFill>
                  <a:srgbClr val="55ACB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1900" dirty="0">
                <a:solidFill>
                  <a:srgbClr val="55AC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</a:t>
            </a:r>
            <a:r>
              <a:rPr lang="en-US" sz="1900" dirty="0">
                <a:solidFill>
                  <a:srgbClr val="55ACBD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~70%+ </a:t>
            </a:r>
            <a:r>
              <a:rPr lang="en-US" sz="1900" dirty="0">
                <a:solidFill>
                  <a:srgbClr val="55AC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total delivered orders, with most customers preferring single-installment payments.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900" b="1" dirty="0"/>
              <a:t>Strong Operational Efficiency:</a:t>
            </a:r>
            <a:br>
              <a:rPr lang="en-US" sz="1900" dirty="0"/>
            </a:br>
            <a:r>
              <a:rPr lang="en-US" sz="1900" dirty="0">
                <a:solidFill>
                  <a:srgbClr val="55AC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97% of orders are delivered successfully with an average delivery time of 12 days and only 0.63% cancellations, reflecting reliable logistics performance.</a:t>
            </a:r>
            <a:r>
              <a:rPr lang="en-US" sz="2000" dirty="0"/>
              <a:t> </a:t>
            </a:r>
            <a:r>
              <a:rPr lang="en-US" sz="1900" dirty="0">
                <a:solidFill>
                  <a:srgbClr val="55AC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Even states with higher delivery times (25–30 days) maintain high on-time rates, showing accurate delivery planning.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952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668C5-E918-08B4-C3F7-CF22AEE8B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1355" y="485989"/>
            <a:ext cx="5631926" cy="706964"/>
          </a:xfrm>
        </p:spPr>
        <p:txBody>
          <a:bodyPr/>
          <a:lstStyle/>
          <a:p>
            <a:r>
              <a:rPr lang="en-US" sz="24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1. Performance Overview Dashboard</a:t>
            </a:r>
            <a:endParaRPr lang="en-IN" sz="2400" u="sng" dirty="0">
              <a:solidFill>
                <a:schemeClr val="accent3">
                  <a:lumMod val="60000"/>
                  <a:lumOff val="40000"/>
                </a:schemeClr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0D80D-C39F-F82A-6209-F96192035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3883" y="1192952"/>
            <a:ext cx="8825659" cy="79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Provides a high-level summary of key KPIs including total revenue, total orders, total sellers, average order value, and overall marketplace performance.</a:t>
            </a:r>
            <a:endParaRPr lang="en-IN" sz="1600" dirty="0">
              <a:solidFill>
                <a:schemeClr val="bg1">
                  <a:lumMod val="95000"/>
                </a:schemeClr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7" name="Picture 6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B63E20F8-8853-8310-5F8A-489309BE9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6" y="1887795"/>
            <a:ext cx="12034684" cy="502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534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CF37-2590-CEEB-9164-EC92AB241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993" y="528621"/>
            <a:ext cx="3004091" cy="619157"/>
          </a:xfrm>
        </p:spPr>
        <p:txBody>
          <a:bodyPr/>
          <a:lstStyle/>
          <a:p>
            <a:r>
              <a:rPr lang="en-IN" sz="24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2.Category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A0AF2-C415-0AB8-3700-7FB2EB602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335" y="1147778"/>
            <a:ext cx="9965330" cy="41500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Shows revenue concentration, order distribution, and AOV comparison across product categories.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46A33D-DCA0-A6F6-D3E2-38BFE4664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3" y="1766934"/>
            <a:ext cx="11926530" cy="509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735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9C34E-EC42-9B24-9A21-CC40ED320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005" y="484718"/>
            <a:ext cx="3839833" cy="706964"/>
          </a:xfrm>
        </p:spPr>
        <p:txBody>
          <a:bodyPr/>
          <a:lstStyle/>
          <a:p>
            <a:r>
              <a:rPr lang="en-IN" sz="24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3. Revenue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77246-BB07-50B7-2189-F0645D723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341" y="1118829"/>
            <a:ext cx="10083317" cy="37567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Highlights revenue trends over time, growth patterns, and revenue contribution by key segments.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840967-DF98-2913-C604-14548E01C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06" y="1602658"/>
            <a:ext cx="11798710" cy="516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9556-3975-9EEF-9C59-8F526C729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8154" y="488134"/>
            <a:ext cx="3367885" cy="638821"/>
          </a:xfrm>
        </p:spPr>
        <p:txBody>
          <a:bodyPr/>
          <a:lstStyle/>
          <a:p>
            <a:r>
              <a:rPr lang="en-IN" sz="24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4. Order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B1EDA-2FB1-87E8-B79A-53765C7BA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941" y="1061883"/>
            <a:ext cx="9375394" cy="3166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Examines order volume trends, regional order distribution, and order performance metrics.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5A0133-FBBB-70D4-2A66-BCA5F5A2B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5" y="1533832"/>
            <a:ext cx="11887200" cy="532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995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6762A-1BB1-D41C-D0A1-D601E2890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505" y="764865"/>
            <a:ext cx="3997148" cy="589935"/>
          </a:xfrm>
        </p:spPr>
        <p:txBody>
          <a:bodyPr/>
          <a:lstStyle/>
          <a:p>
            <a:pPr algn="ctr"/>
            <a:r>
              <a:rPr lang="en-IN" sz="24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5. Seller Performance</a:t>
            </a:r>
            <a:br>
              <a:rPr lang="en-IN" sz="2400" b="1" dirty="0"/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96330-5553-3F35-ADEF-91D14BC4C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786" y="1117801"/>
            <a:ext cx="10211136" cy="47399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Segments sellers by revenue bands to analyze contribution imbalance and productivity differences.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C31901-26C1-A263-8C82-B9D168159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54" y="1591797"/>
            <a:ext cx="11870162" cy="526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707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B43FB-4FDC-5217-59D6-8EEF1B4E4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890" y="916858"/>
            <a:ext cx="3348220" cy="461841"/>
          </a:xfrm>
        </p:spPr>
        <p:txBody>
          <a:bodyPr/>
          <a:lstStyle/>
          <a:p>
            <a:r>
              <a:rPr lang="en-IN" sz="24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6. Payment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592FC-3F4D-8875-43F2-DF043A165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470" y="1092539"/>
            <a:ext cx="10584762" cy="572319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Breaks down payment methods, installment behavior, and revenue contribution by payment type.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E8723EC-1FE0-1325-E6AE-97EFB2DF6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7" y="1554380"/>
            <a:ext cx="11867536" cy="530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46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08EF1-3C93-06CB-30B9-B63E2372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148" y="950111"/>
            <a:ext cx="3525201" cy="410632"/>
          </a:xfrm>
        </p:spPr>
        <p:txBody>
          <a:bodyPr/>
          <a:lstStyle/>
          <a:p>
            <a:r>
              <a:rPr lang="en-IN" sz="24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7. Delivery Performance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CB1C0-9FF1-D76E-8C5B-0A7B63989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618" y="1236816"/>
            <a:ext cx="10486440" cy="483829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Evaluates delivery timelines, on-time performance, cancellations, and state-wise logistics efficiency.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BFF16A-3686-7D5C-C341-C7FBC9CA8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3" y="1720644"/>
            <a:ext cx="11857702" cy="513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67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94D6-C77F-401C-7DF2-100FB7CD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955" y="838200"/>
            <a:ext cx="4788646" cy="706964"/>
          </a:xfrm>
        </p:spPr>
        <p:txBody>
          <a:bodyPr/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01E9A-30DD-5FDF-7E7D-D82EB2D71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2387600"/>
            <a:ext cx="10715195" cy="4357329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</a:t>
            </a:r>
            <a:r>
              <a:rPr lang="en-IN" b="1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1. Improve Low-Performing Seller Productivity:</a:t>
            </a:r>
          </a:p>
          <a:p>
            <a:pPr lvl="1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Provide Support And Promotional Visibility To Increase Contribution From The 0-5k Revenue Band Sellers.</a:t>
            </a:r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</a:t>
            </a:r>
            <a:r>
              <a:rPr lang="en-IN" b="1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2. Expand Beyond Core States:</a:t>
            </a:r>
          </a:p>
          <a:p>
            <a:pPr lvl="1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Reduce heavy dependence on São Paulo and other top states by strengthening presence in underperforming regions.</a:t>
            </a:r>
          </a:p>
          <a:p>
            <a:pPr marL="114300" indent="0">
              <a:buNone/>
            </a:pPr>
            <a:r>
              <a:rPr lang="en-US" b="1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3. </a:t>
            </a:r>
            <a:r>
              <a:rPr lang="en-IN" b="1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Promote High AOV Categories:</a:t>
            </a:r>
          </a:p>
          <a:p>
            <a:pPr lvl="1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Focus marketing efforts on high-value categories like Watches &amp; Gifts to drive revenue without relying only on order volume.</a:t>
            </a:r>
            <a:endParaRPr lang="en-IN" b="1" dirty="0">
              <a:solidFill>
                <a:schemeClr val="accent4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114300" indent="0">
              <a:buNone/>
            </a:pPr>
            <a:r>
              <a:rPr lang="en-IN" b="1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4.</a:t>
            </a:r>
            <a:r>
              <a:rPr lang="en-US" b="1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lang="en-IN" b="1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Optimize Payment Incentives</a:t>
            </a:r>
            <a:r>
              <a:rPr lang="en-US" b="1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:</a:t>
            </a:r>
          </a:p>
          <a:p>
            <a:pPr lvl="1"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As credit cards dominate transactions, offering targeted incentives (cashbacks, EMI benefits) could further strengthen high-value transactions.</a:t>
            </a:r>
          </a:p>
          <a:p>
            <a:pPr marL="114300" indent="0">
              <a:buNone/>
            </a:pPr>
            <a:r>
              <a:rPr lang="en-US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lang="en-US" b="1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5.</a:t>
            </a:r>
            <a:r>
              <a:rPr lang="en-IN" b="1" u="sng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Maintain Strong Delivery Standards</a:t>
            </a:r>
            <a:endParaRPr lang="en-US" b="1" u="sng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pPr marL="857250" lvl="2" indent="0">
              <a:buNone/>
            </a:pPr>
            <a:endParaRPr lang="en-IN" dirty="0"/>
          </a:p>
          <a:p>
            <a:pPr marL="514350" lvl="1" indent="0">
              <a:buNone/>
            </a:pP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610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6F77-20F2-0EE8-D4C4-985E52A49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9"/>
            <a:ext cx="4138406" cy="706964"/>
          </a:xfrm>
        </p:spPr>
        <p:txBody>
          <a:bodyPr/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b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</a:b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BF824-D6E2-A57D-A744-AE5D36D6E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7440" y="3016250"/>
            <a:ext cx="5262880" cy="135255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8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THANK YOU…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0108412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</TotalTime>
  <Words>1438</Words>
  <Application>Microsoft Office PowerPoint</Application>
  <PresentationFormat>Widescreen</PresentationFormat>
  <Paragraphs>112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Century Gothic</vt:lpstr>
      <vt:lpstr>Courier New</vt:lpstr>
      <vt:lpstr>Inter</vt:lpstr>
      <vt:lpstr>Lato black</vt:lpstr>
      <vt:lpstr>Segoe UI</vt:lpstr>
      <vt:lpstr>Segoe UI Semibold</vt:lpstr>
      <vt:lpstr>Wingdings</vt:lpstr>
      <vt:lpstr>Wingdings 3</vt:lpstr>
      <vt:lpstr>Ion Boardroom</vt:lpstr>
      <vt:lpstr>Brazil E-Commerce Marketplace Performance Analysis</vt:lpstr>
      <vt:lpstr>CONTENTS</vt:lpstr>
      <vt:lpstr>INTRODUCTION</vt:lpstr>
      <vt:lpstr>DATASET</vt:lpstr>
      <vt:lpstr>TOOLS USED</vt:lpstr>
      <vt:lpstr>Revenue and Sales Overview</vt:lpstr>
      <vt:lpstr>Category Analysis</vt:lpstr>
      <vt:lpstr>Sellers Performance</vt:lpstr>
      <vt:lpstr>State-Level Marketplace Performance</vt:lpstr>
      <vt:lpstr>Payment Behaviour Insights</vt:lpstr>
      <vt:lpstr>Delivery and Logistics Performance</vt:lpstr>
      <vt:lpstr>KEY INSIGHTS AND OBSERVATIONS</vt:lpstr>
      <vt:lpstr>1. Performance Overview Dashboard</vt:lpstr>
      <vt:lpstr>2.Category Analysis</vt:lpstr>
      <vt:lpstr>3. Revenue Analysis</vt:lpstr>
      <vt:lpstr>4. Order Analysis</vt:lpstr>
      <vt:lpstr>5. Seller Performance </vt:lpstr>
      <vt:lpstr>6. Payment Analysis </vt:lpstr>
      <vt:lpstr>7. Delivery Performance </vt:lpstr>
      <vt:lpstr>RECOMMENDATIONS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Lodhi</dc:creator>
  <cp:lastModifiedBy>Suyog Lodhi</cp:lastModifiedBy>
  <cp:revision>7</cp:revision>
  <dcterms:created xsi:type="dcterms:W3CDTF">2026-02-08T05:16:57Z</dcterms:created>
  <dcterms:modified xsi:type="dcterms:W3CDTF">2026-03-03T06:58:02Z</dcterms:modified>
</cp:coreProperties>
</file>